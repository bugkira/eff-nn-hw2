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Вывод O(1) vs обучение O(L); формула 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SSM → O(log L) ценой линейности; мостик к F(H)=0 без спойлеров метрик.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опоры: Ньютон, блочная бидиагональ → слайд 5, параллельный init.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Панчлайн: (5) = линейная RNN → снова скан со слайда 3. N_its — на слайде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Эмпирика сходимости.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Флагманский слайд: W_h → diag → 2×2 → MLP.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Сравнение с Mamba — для упрощённого модуля (оговорка paper).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Сравнение с Mamba — для упрощённого модуля (оговорка paper).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направления валидации; метрики здесь, не на слайде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+ apple/ml-pararnn; hyperparams — на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Обезличенно; артефакт = код либы.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Светлый финал; единый тон колоды.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ParaRNN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175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Calibri"/>
              </a:rPr>
              <a:t>Параллельное обучение нелинейных RNN без линеаризации скрытого состояния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BE7F5"/>
                </a:solidFill>
                <a:latin typeface="Calibri"/>
              </a:rPr>
              <a:t>Danieli et al. · Apple · ICLR 2026 · arXiv:2510.21450
Efficient Neural Networks · Университет ИТМО · ДЗ-2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744"/>
                </a:solidFill>
                <a:latin typeface="Calibri"/>
              </a:rPr>
              <a:t>Последовательная развёртка RNN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2744"/>
                </a:solidFill>
                <a:latin typeface="Calibri"/>
              </a:rPr>
              <a:t>На этапе вывода классические LSTM и GRU привлекательны компактным скрытым состоянием O(1), константным временем генерации токена и отсутствием KV-кэша.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2744"/>
                </a:solidFill>
                <a:latin typeface="Calibri"/>
              </a:rPr>
              <a:t>Основной барьер возникает при обучении: пошаговая зависимость (1) задаёт временную глубину O(L). Вычисление h_l строго требует результата h_{l−1}, что препятствует эффективному распараллеливанию на GPU.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2744"/>
                </a:solidFill>
                <a:latin typeface="Calibri"/>
              </a:rPr>
              <a:t>(1)   h_l = f(h_{l−1}, x_l),   l = 1…L,   h_0 = 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2744"/>
                </a:solidFill>
                <a:latin typeface="Calibri"/>
              </a:rPr>
              <a:t>В отличие от подходов, переходящих к механизму внимания или упрощающих рекуррентность до линейной (как в SSM), ParaRNN сохраняет выразительную нелинейную функцию f.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2744"/>
                </a:solidFill>
                <a:latin typeface="Calibri"/>
              </a:rPr>
              <a:t>Вместо изменения архитектуры ячейки здесь распараллеливается само численное нахождение всей траектории H во времени.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572000"/>
            <a:ext cx="11155680" cy="2926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2744"/>
                </a:solidFill>
                <a:latin typeface="Calibri"/>
              </a:rPr>
              <a:t>Зависимость (1): каждый шаг ждёт предыдущий → глубина O(L)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983480"/>
            <a:ext cx="2194560" cy="502920"/>
          </a:xfrm>
          <a:prstGeom prst="roundRect">
            <a:avLst/>
          </a:prstGeom>
          <a:solidFill>
            <a:srgbClr val="EEF3F8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2744"/>
                </a:solidFill>
                <a:latin typeface="Calibri"/>
              </a:rPr>
              <a:t>h_1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97480" y="5230368"/>
            <a:ext cx="548640" cy="0"/>
          </a:xfrm>
          <a:prstGeom prst="line">
            <a:avLst/>
          </a:prstGeom>
          <a:ln w="2222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46120" y="4983480"/>
            <a:ext cx="2194560" cy="502920"/>
          </a:xfrm>
          <a:prstGeom prst="roundRect">
            <a:avLst/>
          </a:prstGeom>
          <a:solidFill>
            <a:srgbClr val="EEF3F8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2744"/>
                </a:solidFill>
                <a:latin typeface="Calibri"/>
              </a:rPr>
              <a:t>h_2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40680" y="5230368"/>
            <a:ext cx="548640" cy="0"/>
          </a:xfrm>
          <a:prstGeom prst="line">
            <a:avLst/>
          </a:prstGeom>
          <a:ln w="2222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89320" y="4983480"/>
            <a:ext cx="2194560" cy="502920"/>
          </a:xfrm>
          <a:prstGeom prst="roundRect">
            <a:avLst/>
          </a:prstGeom>
          <a:solidFill>
            <a:srgbClr val="EEF3F8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2744"/>
                </a:solidFill>
                <a:latin typeface="Calibri"/>
              </a:rPr>
              <a:t>h_3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83880" y="5230368"/>
            <a:ext cx="548640" cy="0"/>
          </a:xfrm>
          <a:prstGeom prst="line">
            <a:avLst/>
          </a:prstGeom>
          <a:ln w="2222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732520" y="4983480"/>
            <a:ext cx="2194560" cy="502920"/>
          </a:xfrm>
          <a:prstGeom prst="roundRect">
            <a:avLst/>
          </a:prstGeom>
          <a:solidFill>
            <a:srgbClr val="EEF3F8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2744"/>
                </a:solidFill>
                <a:latin typeface="Calibri"/>
              </a:rPr>
              <a:t>h_4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744"/>
                </a:solidFill>
                <a:latin typeface="Calibri"/>
              </a:rPr>
              <a:t>Линейные SSM и associative 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Чтобы преодолеть барьер O(L) при обучении, современные State Space Models (SSM) упрощают переход между шагами до строго линейного: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(2)   h_l = A_l h_{l−1} + B_l x_l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Линейные отображения ассоциативны относительно композиции. Это позволяет заменить последовательную развёртку алгоритмом parallel scan (prefix sum), сократив вычислительную глубину до логарифмической.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2240280"/>
          <a:ext cx="113385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43434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Последовательный проход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Parallel scan (SSM)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Вычислительная глубина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O(L)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O(log L)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Суммарный объём работы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O(L)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O(L)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Требование к шагу перехода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Произвольный (f)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Строгая ассоциативность (линейность)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1148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Цена линейности. Линейность по состоянию — вынужденная мера ради параллелизации на GPU. Платой за неё становится потеря выразительности: теоретически показано, что чисто линейные рекуррентности не способны моделировать сложные пошаговые зависимости и задачи с отслеживанием состояния (например, подсчёт чётности / parity).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Задача ParaRNN — вернуть скрытому состоянию нелинейность, сохранив параллельное обучение.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744"/>
                </a:solidFill>
                <a:latin typeface="Calibri"/>
              </a:rPr>
              <a:t>Развёртка как F(H)=0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Вместо пошагового вычисления по времени вся траектория скрытых состояний H = [h_1, …, h_L]ᵀ рассматривается как корень единой системы из L нелинейных уравнений: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(3)   F_l(H) = h_l − f(h_{l−1}, x_l) = 0,   l = 1…L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где граничное условие h_0 = 0 делает систему замкнутой и однозначно разрешимой (L уравнений для L неизвестных).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Суть подхода авторов: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• Итерации метода Ньютона. Вместо последовательного цикла по времени система решается численно — через последовательную линеаризацию невязок F(H).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• Марковская структура. Шаг l зависит только от h_l и h_{l−1}, поэтому глобальный якобиан блочно-бидиагонален; плотную матрицу размера (L·d_h)² хранить не нужно.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• Параллельная инициализация. Стартовая точка h_l⁽⁰⁾ = f(0, x_l) вычисляется независимо для всех токенов за один параллельный проход.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744"/>
                </a:solidFill>
                <a:latin typeface="Calibri"/>
              </a:rPr>
              <a:t>Ньютон и parallel 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2744"/>
                </a:solidFill>
                <a:latin typeface="Calibri"/>
              </a:rPr>
              <a:t>На каждой итерации k система невязок линеаризуется вокруг текущей траектории H⁽ᵏ⁾: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2744"/>
                </a:solidFill>
                <a:latin typeface="Calibri"/>
              </a:rPr>
              <a:t>(4)   J_F(H⁽ᵏ⁾) ΔH = −F(H⁽ᵏ⁾),   H⁽ᵏ⁺¹⁾ = H⁽ᵏ⁾ + ΔH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2744"/>
                </a:solidFill>
                <a:latin typeface="Calibri"/>
              </a:rPr>
              <a:t>Поскольку глобальный якобиан J_F блочно-бидиагонален, строчка l матричной системы раскрывается в локальное уравнение для поправок: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2744"/>
                </a:solidFill>
                <a:latin typeface="Calibri"/>
              </a:rPr>
              <a:t>(5)   Δh_l = J_f|_{h_{l−1}} Δh_{l−1} + r_l,   где r_l = f(h_{l−1}, x_l) − h_l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2744"/>
                </a:solidFill>
                <a:latin typeface="Calibri"/>
              </a:rPr>
              <a:t>Главный инсайт авторов. Уравнение поправок (5) — линейная рекуррентность: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2744"/>
                </a:solidFill>
                <a:latin typeface="Calibri"/>
              </a:rPr>
              <a:t>• локальный якобиан J_f играет роль матрицы перехода (A_l);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2744"/>
                </a:solidFill>
                <a:latin typeface="Calibri"/>
              </a:rPr>
              <a:t>• невязка r_l играет роль входного вектора (B_l x_l).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2744"/>
                </a:solidFill>
                <a:latin typeface="Calibri"/>
              </a:rPr>
              <a:t>Линейная зависимость ассоциативна, поэтому ΔH находится parallel scan за O(log L).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2744"/>
                </a:solidFill>
                <a:latin typeface="Calibri"/>
              </a:rPr>
              <a:t>Итоговая схема: внешний решатель (метод Ньютона) уточняет траекторию, внутренний — распараллеливается по длине на GPU.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892040"/>
            <a:ext cx="2468880" cy="640080"/>
          </a:xfrm>
          <a:prstGeom prst="roundRect">
            <a:avLst/>
          </a:prstGeom>
          <a:solidFill>
            <a:srgbClr val="EEF3F8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2744"/>
                </a:solidFill>
                <a:latin typeface="Calibri"/>
              </a:rPr>
              <a:t>F(H)=0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71800" y="5212080"/>
            <a:ext cx="274320" cy="0"/>
          </a:xfrm>
          <a:prstGeom prst="line">
            <a:avLst/>
          </a:prstGeom>
          <a:ln w="2222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46120" y="4892040"/>
            <a:ext cx="2468880" cy="640080"/>
          </a:xfrm>
          <a:prstGeom prst="roundRect">
            <a:avLst/>
          </a:prstGeom>
          <a:solidFill>
            <a:srgbClr val="EEF3F8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2744"/>
                </a:solidFill>
                <a:latin typeface="Calibri"/>
              </a:rPr>
              <a:t>J_F ΔH = −F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0" y="5212080"/>
            <a:ext cx="411480" cy="0"/>
          </a:xfrm>
          <a:prstGeom prst="line">
            <a:avLst/>
          </a:prstGeom>
          <a:ln w="2222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26480" y="4892040"/>
            <a:ext cx="2468880" cy="640080"/>
          </a:xfrm>
          <a:prstGeom prst="roundRect">
            <a:avLst/>
          </a:prstGeom>
          <a:solidFill>
            <a:srgbClr val="EEF3F8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2744"/>
                </a:solidFill>
                <a:latin typeface="Calibri"/>
              </a:rPr>
              <a:t>Δh_l = J_f Δh_{l−1}+r_l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60" y="5212080"/>
            <a:ext cx="731520" cy="0"/>
          </a:xfrm>
          <a:prstGeom prst="line">
            <a:avLst/>
          </a:prstGeom>
          <a:ln w="2222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326880" y="4892040"/>
            <a:ext cx="2194560" cy="640080"/>
          </a:xfrm>
          <a:prstGeom prst="roundRect">
            <a:avLst/>
          </a:prstGeom>
          <a:solidFill>
            <a:srgbClr val="EEF3F8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2744"/>
                </a:solidFill>
                <a:latin typeface="Calibri"/>
              </a:rPr>
              <a:t>parallel scan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744"/>
                </a:solidFill>
                <a:latin typeface="Calibri"/>
              </a:rPr>
              <a:t>Сходимость Ньютона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F2744"/>
                </a:solidFill>
                <a:latin typeface="Calibri"/>
              </a:rPr>
              <a:t>У ParaGRU и ParaLSTM норма ||F||_∞ падает до машинной точности (10⁻⁵–10⁻⁶) за три–четыре шага как до обучения, так и после него.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2744"/>
                </a:solidFill>
                <a:latin typeface="Calibri"/>
              </a:rPr>
              <a:t>• длины в проверках: L ∈ {2⁸,…,2¹¹}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2744"/>
                </a:solidFill>
                <a:latin typeface="Calibri"/>
              </a:rPr>
              <a:t>• бюджет итераций в экспериментах: N_its = 3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2744"/>
                </a:solidFill>
                <a:latin typeface="Calibri"/>
              </a:rPr>
              <a:t>• условие выгодности: N_its*(L) ≪ 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2744"/>
                </a:solidFill>
                <a:latin typeface="Calibri"/>
              </a:rPr>
              <a:t>Для произвольной нелинейной ячейки такой лимит заранее не гарантирован: число итераций метода Ньютона может расти вместе с 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744"/>
                </a:solidFill>
                <a:latin typeface="Calibri"/>
              </a:rPr>
              <a:t>Диагонализация A_*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2744"/>
                </a:solidFill>
                <a:latin typeface="Calibri"/>
              </a:rPr>
              <a:t>Узкое место: в GRU/LSTM есть W_h h_{l−1}, блоки J_f плотные размера d_h×d_h; скан даёт O(L d_h²) памяти и O(d_h³) на умножение блока.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2744"/>
                </a:solidFill>
                <a:latin typeface="Calibri"/>
              </a:rPr>
              <a:t>Ключевая модификация — замена плотного умножения на поэлементное гейтирование. (6)  A_*=diag(a_*), C_*=diag(c_*); a_*,c_* ∈ R^{d_h}.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2744"/>
                </a:solidFill>
                <a:latin typeface="Calibri"/>
              </a:rPr>
              <a:t>• у ParaGRU якобиан J_f чисто диагонален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2744"/>
                </a:solidFill>
                <a:latin typeface="Calibri"/>
              </a:rPr>
              <a:t>• у ParaLSTM из-за связки (c_l, h_l) остаются блоки 2×2 с диагональными множителями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2744"/>
                </a:solidFill>
                <a:latin typeface="Calibri"/>
              </a:rPr>
              <a:t>• смешивание каналов во времени переносится в MLP между слоями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3246120"/>
          <a:ext cx="111556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7244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Плотные A_*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Диаг. A_*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Память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O(L d_h²)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O(L d_h)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Умножение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O(d_h³)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O(d_h) поэлементно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8006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2744"/>
                </a:solidFill>
                <a:latin typeface="Calibri"/>
              </a:rPr>
              <a:t>Time-mixing остаётся диагональной рекуррентностью, а channel-mixing выполняют слои MLP. Скан становится вычислительно дешёвым.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744"/>
                </a:solidFill>
                <a:latin typeface="Calibri"/>
              </a:rPr>
              <a:t>Обратный проход: один скан вместо метода Ньютона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Дифференцирование рекуррентности (BPTT) даёт строго линейную цепочку по градиентам скрытого состояния: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(7)   ∇_{h_{l−1}} L = (J_f|_{h_{l−1}})ᵀ ∇_{h_l} L + ∂_{h_{l−1}} L,   l = L…1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с граничным условием ∇_{h_L} L = ∂_{h_L} L.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Поскольку система линейна, итерации метода Ньютона не требуются, и все градиенты ∇_h L находятся за один обратный parallel scan.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Бюджет на полный шаг обучения (Forward + Backward):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• Mamba: 1 (fwd) + 1 (bwd) = 2 скана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• ParaRNN: 3 (fwd, метод Ньютона) + 1 (bwd) = 4 скана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Суммарные накладные расходы нелинейности на шаге обучения составляют ∼2× относительно чисто линейных SSM.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744"/>
                </a:solidFill>
                <a:latin typeface="Calibri"/>
              </a:rPr>
              <a:t>Реализация на GPU: аппаратный parallel 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Чтобы обеспечить вычислительную эффективность, авторы разработали собственное CUDA-ядро, раскладывающее параллельную редукцию по всей аппаратной иерархии GPU: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34440"/>
          <a:ext cx="11521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778240"/>
              </a:tblGrid>
              <a:tr h="402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Уровень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Механика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Thread (registers)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Локальный chunk 2–4 уравнений (chunk_size), прямое исключение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Warp (registers)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Обмен через __shfl_down_sync, без обращения к памяти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Block (Shared memory)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Сведение результатов варпов с обратной подстановкой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Grid (Global memory)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При L ≥ 2¹⁶ — сетка блоков с синхронизацией через VRAM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38328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Уровни интеграции в ParaRNN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• Modular (PyTorch + CUDA): сборка якобиана в PyTorch (autograd или аналитически), скан — в CUDA; гибкость для новых типов ячеек.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• Fully-fused CUDA: весь цикл метода Ньютона (невязки, якобиан и скан) в одном ядре — без промежуточного обмена через VRAM.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Производительность (A100, L=2⁹): ускорение до ∼665× относительно последовательной развёртки; Fully-fused быстрее Mamba в 1,5× (ParaLSTM) – 2,6× (ParaGRU).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744"/>
                </a:solidFill>
                <a:latin typeface="Calibri"/>
              </a:rPr>
              <a:t>Экспериментальные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2744"/>
                </a:solidFill>
                <a:latin typeface="Calibri"/>
              </a:rPr>
              <a:t>Авторы валидируют ParaRNN по двум направлениям: выразительность рекуррентной ячейки на синтетических тестах и качество при масштабировании языковой модели до 7B параметров.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08760"/>
          <a:ext cx="111556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297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MQAR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k-hop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Parity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PPL↓ (7B)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78%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~53%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9,55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Mamba2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~98%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~51%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8,62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ParaLSTM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9,16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ParaGRU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9,19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79476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2744"/>
                </a:solidFill>
                <a:latin typeface="Calibri"/>
              </a:rPr>
              <a:t>Синтетические тесты (1 слой) · SlimPajama 7B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2744"/>
                </a:solidFill>
                <a:latin typeface="Calibri"/>
              </a:rPr>
              <a:t>Ключевые выводы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2744"/>
                </a:solidFill>
                <a:latin typeface="Calibri"/>
              </a:rPr>
              <a:t>• Выразительность нелинейности. На задачах отслеживания состояния (k-hop) и периодической логики (Parity) чисто линейная Mamba2 падает до уровня случайного угадывания (~51%), тогда как ParaGRU и ParaLSTM решают их на 100%.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2744"/>
                </a:solidFill>
                <a:latin typeface="Calibri"/>
              </a:rPr>
              <a:t>• Масштабирование до 7B. При обучении по законам масштабирования Chinchilla нелинейные RNN обходят baseline Transformer по перплексии (9,16–9,19 vs 9,55) и показывают устойчивую сходимость градиентов без деградации качества.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744"/>
                </a:solidFill>
                <a:latin typeface="Calibri"/>
              </a:rPr>
              <a:t>Архитектура и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F2744"/>
                </a:solidFill>
                <a:latin typeface="Calibri"/>
              </a:rPr>
              <a:t>Для тестов авторы адаптировали трансформерный стек DCLM: механизм внимания заменили на блок ParaRNN (ParaGRU/ParaLSTM) с каузальной свёрткой и гейтированием в стиле Mamba, оставив перемешивание каналов внешним слоям MLP.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2744"/>
                </a:solidFill>
                <a:latin typeface="Calibri"/>
              </a:rPr>
              <a:t>Модели от 400M до 7B параметров обучались на SlimPajama (без Books3) по законам масштабирования Chinchilla.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2744"/>
                </a:solidFill>
                <a:latin typeface="Calibri"/>
              </a:rPr>
              <a:t>Фреймворк apple/ml-pararnn автоматизирует параллелизацию: достаточно описать шаг f и аналитический якобиан J_f, а сборку уравнений и параллельный скан библиотека выполняет сама.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F2744"/>
                </a:solidFill>
                <a:latin typeface="Calibri"/>
              </a:rPr>
              <a:t>На этапе вывода модель переходит в стандартный рекуррентный режим без итераций метода Ньютона, сохраняя преимущество классических RNN — работу с памятью O(1) без KV-кэша.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744"/>
                </a:solidFill>
                <a:latin typeface="Calibri"/>
              </a:rPr>
              <a:t>Воспроизведение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2744"/>
                </a:solidFill>
                <a:latin typeface="Calibri"/>
              </a:rPr>
              <a:t>Для воспроизведения статьи разработана библиотека pararnn-torch (github.com/bugkira/pararnn-torch).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2744"/>
                </a:solidFill>
                <a:latin typeface="Calibri"/>
              </a:rPr>
              <a:t>На обучении она считает всю траекторию скрытых состояний методом Ньютона со сканом; в режиме вывода остаётся тот же переход f, но уже по одному шагу за раз.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2744"/>
                </a:solidFill>
                <a:latin typeface="Calibri"/>
              </a:rPr>
              <a:t>Согласие параллельного и последовательного проходов проверяется штатным вызовом API этой же библиотеки.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2744"/>
                </a:solidFill>
                <a:latin typeface="Calibri"/>
              </a:rPr>
              <a:t>В численных экспериментах статьи заданы такие параметры: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342900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В статье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Init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h_l⁽⁰⁾ = f(0, x_l)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Ньютон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N_its =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||a_*||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F2744"/>
                          </a:solidFill>
                          <a:latin typeface="Calibri"/>
                        </a:rPr>
                        <a:t>≤ 0,5 на текстовых данных, ≤ 0,9 на синтетических задачах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744"/>
                </a:solidFill>
                <a:latin typeface="Calibri"/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F2744"/>
                </a:solidFill>
                <a:latin typeface="Calibri"/>
              </a:rPr>
              <a:t>Нелинейную развёртку RNN можно эффективно распараллелить, если искать всю траекторию состояний сразу как корень системы F(H)=0 методом Ньютона.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2744"/>
                </a:solidFill>
                <a:latin typeface="Calibri"/>
              </a:rPr>
              <a:t>Ключевое инженерное условие такой схемы — диагонализация матриц перехода A_*: она меняет асимптотику сложности одного шага скана с кубической O(d_h³) на линейную O(d_h) и делает вычисления на GPU сопоставимыми по стоимости с линейными SSM.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2744"/>
                </a:solidFill>
                <a:latin typeface="Calibri"/>
              </a:rPr>
              <a:t>На практике для ParaGRU и ParaLSTM уже трёх шагов метода Ньютона достаточно, чтобы параллельное приближение совпало с точной пошаговой развёрткой.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2744"/>
                </a:solidFill>
                <a:latin typeface="Calibri"/>
              </a:rPr>
              <a:t>В результате классические рекуррентные ячейки масштабируются до 7B без потери качества на языковом моделировании, но сохраняют нелинейную динамику там, где линейные модели систематически не справляются — например, на задаче Parity.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2744"/>
                </a:solidFill>
                <a:latin typeface="Calibri"/>
              </a:rPr>
              <a:t>pararnn-torch · apple/ml-pararnn · arXiv:2510.21450 · Danieli et al., ICLR 2026 · ИТМО · ДЗ-2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